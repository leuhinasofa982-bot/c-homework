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2" r:id="rId7"/>
    <p:sldId id="262" r:id="rId8"/>
    <p:sldId id="263" r:id="rId9"/>
    <p:sldId id="264" r:id="rId10"/>
    <p:sldId id="265" r:id="rId11"/>
    <p:sldId id="273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esktop\&#1089;&#1077;&#1084;&#1077;&#1089;&#1090;&#1088;&#1086;&#1074;&#1072;&#1103;\&#1057;&#1077;&#1084;&#1077;&#1089;&#1090;&#1088;&#1086;&#1074;&#1072;&#1103;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chart>
    <c:plotArea>
      <c:layout/>
      <c:barChart>
        <c:barDir val="col"/>
        <c:grouping val="clustered"/>
        <c:ser>
          <c:idx val="0"/>
          <c:order val="0"/>
          <c:cat>
            <c:strRef>
              <c:f>справка!$A$13:$A$15</c:f>
              <c:strCache>
                <c:ptCount val="3"/>
                <c:pt idx="0">
                  <c:v>Office 2019</c:v>
                </c:pt>
                <c:pt idx="1">
                  <c:v>Office 2021</c:v>
                </c:pt>
                <c:pt idx="2">
                  <c:v>Office 2024</c:v>
                </c:pt>
              </c:strCache>
            </c:strRef>
          </c:cat>
          <c:val>
            <c:numRef>
              <c:f>справка!$B$13:$B$15</c:f>
              <c:numCache>
                <c:formatCode>General</c:formatCode>
                <c:ptCount val="3"/>
                <c:pt idx="0">
                  <c:v>2018</c:v>
                </c:pt>
                <c:pt idx="1">
                  <c:v>2021</c:v>
                </c:pt>
                <c:pt idx="2">
                  <c:v>2024</c:v>
                </c:pt>
              </c:numCache>
            </c:numRef>
          </c:val>
        </c:ser>
        <c:axId val="123580416"/>
        <c:axId val="123941632"/>
      </c:barChart>
      <c:catAx>
        <c:axId val="123580416"/>
        <c:scaling>
          <c:orientation val="minMax"/>
        </c:scaling>
        <c:axPos val="b"/>
        <c:tickLblPos val="nextTo"/>
        <c:crossAx val="123941632"/>
        <c:crosses val="autoZero"/>
        <c:auto val="1"/>
        <c:lblAlgn val="ctr"/>
        <c:lblOffset val="100"/>
      </c:catAx>
      <c:valAx>
        <c:axId val="123941632"/>
        <c:scaling>
          <c:orientation val="minMax"/>
        </c:scaling>
        <c:axPos val="l"/>
        <c:majorGridlines/>
        <c:numFmt formatCode="General" sourceLinked="1"/>
        <c:tickLblPos val="nextTo"/>
        <c:crossAx val="123580416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/>
    </c:legend>
    <c:plotVisOnly val="1"/>
  </c:chart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C3DE38-F0DA-4AA2-AACB-6EFA02F45E86}" type="datetimeFigureOut">
              <a:rPr lang="ru-RU" smtClean="0"/>
              <a:t>01.01.2026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7FA19-51E5-4B6B-896E-F1572D54F80C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авнобедренный треугольник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66F45226-6675-4D4E-8D43-E22BFAF1058E}" type="datetime1">
              <a:rPr lang="ru-RU" smtClean="0"/>
              <a:t>01.01.2026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FE7A565E-C1FE-4C6B-B7B4-9E85E7607BC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9735E730-46DB-477C-B78C-4EF0AFB6B0F2}" type="datetime1">
              <a:rPr lang="ru-RU" smtClean="0"/>
              <a:t>01.01.2026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565E-C1FE-4C6B-B7B4-9E85E7607BC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ый треугольник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Равнобедренный треугольник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7368E4E2-ACA9-44BB-A646-8BB3C04CFE94}" type="datetime1">
              <a:rPr lang="ru-RU" smtClean="0"/>
              <a:t>01.01.2026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FE7A565E-C1FE-4C6B-B7B4-9E85E7607BCA}" type="slidenum">
              <a:rPr lang="ru-RU" smtClean="0"/>
              <a:t>‹#›</a:t>
            </a:fld>
            <a:endParaRPr lang="ru-RU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8FFA27F9-B7C9-44D0-B570-7310B54DC773}" type="datetime1">
              <a:rPr lang="ru-RU" smtClean="0"/>
              <a:t>01.01.2026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FE7A565E-C1FE-4C6B-B7B4-9E85E7607BC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62E2922D-F567-40E9-A876-973C9DFEEF9F}" type="datetime1">
              <a:rPr lang="ru-RU" smtClean="0"/>
              <a:t>01.01.2026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FE7A565E-C1FE-4C6B-B7B4-9E85E7607BCA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262A5-EB2F-45FC-B164-DCC03B8E813A}" type="datetime1">
              <a:rPr lang="ru-RU" smtClean="0"/>
              <a:t>01.01.2026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565E-C1FE-4C6B-B7B4-9E85E7607BC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3B878D86-87D9-4768-98BA-5BBEE3702EAD}" type="datetime1">
              <a:rPr lang="ru-RU" smtClean="0"/>
              <a:t>01.01.2026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FE7A565E-C1FE-4C6B-B7B4-9E85E7607BC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97BF2BED-78A6-426E-88F3-7F41C31AF5F0}" type="datetime1">
              <a:rPr lang="ru-RU" smtClean="0"/>
              <a:t>01.01.2026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FE7A565E-C1FE-4C6B-B7B4-9E85E7607BCA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6A53E625-1CE8-4C10-A537-7CD665DCBA31}" type="datetime1">
              <a:rPr lang="ru-RU" smtClean="0"/>
              <a:t>01.01.2026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FE7A565E-C1FE-4C6B-B7B4-9E85E7607BCA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03ED-63C3-4613-9FF3-C504564BEB96}" type="datetime1">
              <a:rPr lang="ru-RU" smtClean="0"/>
              <a:t>01.01.2026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565E-C1FE-4C6B-B7B4-9E85E7607BC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503D-A541-4196-993D-41EE34926712}" type="datetime1">
              <a:rPr lang="ru-RU" smtClean="0"/>
              <a:t>01.01.2026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565E-C1FE-4C6B-B7B4-9E85E7607BC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ый треугольник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34A55507-593A-41E4-92D6-0C404493E531}" type="datetime1">
              <a:rPr lang="ru-RU" smtClean="0"/>
              <a:t>01.01.2026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FE7A565E-C1FE-4C6B-B7B4-9E85E7607BCA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357158" y="1785926"/>
            <a:ext cx="8429684" cy="1643074"/>
          </a:xfrm>
        </p:spPr>
        <p:txBody>
          <a:bodyPr>
            <a:normAutofit/>
          </a:bodyPr>
          <a:lstStyle/>
          <a:p>
            <a:r>
              <a:rPr lang="ru-RU" sz="5400" dirty="0" smtClean="0">
                <a:latin typeface="Times New Roman" pitchFamily="18" charset="0"/>
                <a:cs typeface="Times New Roman" pitchFamily="18" charset="0"/>
              </a:rPr>
              <a:t>Электронные таблицы</a:t>
            </a:r>
            <a:endParaRPr lang="ru-RU" sz="5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714348" y="3500438"/>
            <a:ext cx="8062912" cy="1109658"/>
          </a:xfrm>
        </p:spPr>
        <p:txBody>
          <a:bodyPr/>
          <a:lstStyle/>
          <a:p>
            <a:r>
              <a:rPr lang="ru-RU" dirty="0" err="1" smtClean="0">
                <a:hlinkClick r:id="" action="ppaction://hlinkshowjump?jump=lastslide"/>
              </a:rPr>
              <a:t>Леухина</a:t>
            </a:r>
            <a:r>
              <a:rPr lang="ru-RU" dirty="0" smtClean="0">
                <a:hlinkClick r:id="" action="ppaction://hlinkshowjump?jump=lastslide"/>
              </a:rPr>
              <a:t> Софья Анатольевна</a:t>
            </a:r>
          </a:p>
          <a:p>
            <a:r>
              <a:rPr lang="ru-RU" dirty="0" smtClean="0">
                <a:hlinkClick r:id="" action="ppaction://hlinkshowjump?jump=lastslide"/>
              </a:rPr>
              <a:t>Почта: </a:t>
            </a:r>
            <a:r>
              <a:rPr lang="en-US" dirty="0" smtClean="0">
                <a:hlinkClick r:id="" action="ppaction://hlinkshowjump?jump=lastslide"/>
              </a:rPr>
              <a:t>leuhinasofa982@gmail.com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85720" y="928670"/>
            <a:ext cx="85011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«Кемеровский государственный университет»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нститут цифры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кафедра цифровых технологий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Введение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43050"/>
            <a:ext cx="8229600" cy="4811758"/>
          </a:xfrm>
        </p:spPr>
        <p:txBody>
          <a:bodyPr>
            <a:normAutofit lnSpcReduction="10000"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Электронные таблицы — это программы для организации, хранения и анализа данных в виде таблиц. Они автоматизируют вычисления и анализ с помощью формул, функций и макросов, уменьшая ошибки и экономя время. Встроенные инструменты визуализации помогают наглядно представлять результаты. Электронные таблицы применяются в финансах, науке, образовании и управлении проектами, существенно повышая эффективность работы с информацией.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565E-C1FE-4C6B-B7B4-9E85E7607BCA}" type="slidenum">
              <a:rPr lang="ru-RU" smtClean="0"/>
              <a:t>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71480"/>
            <a:ext cx="8229600" cy="1357322"/>
          </a:xfrm>
        </p:spPr>
        <p:txBody>
          <a:bodyPr>
            <a:noAutofit/>
          </a:bodyPr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История появления электронных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таблиц.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Ранние годы 1970-х</a:t>
            </a:r>
            <a:br>
              <a:rPr lang="ru-RU" sz="3600" dirty="0" smtClean="0">
                <a:latin typeface="Times New Roman" pitchFamily="18" charset="0"/>
                <a:cs typeface="Times New Roman" pitchFamily="18" charset="0"/>
              </a:rPr>
            </a:br>
            <a:endParaRPr lang="ru-RU" sz="3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14488"/>
            <a:ext cx="8229600" cy="474032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ru-RU" dirty="0" smtClean="0"/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Электронные таблицы появились в конце 1970-х годов на фоне развития персональных компьютеров. В 1979 году была выпущена первая успешная программа –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VisiCalc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разработанная Дэном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Бриклином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Бобом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Франкеном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Она стала прорывом, так как предлагала интерактивный электронный лист с автоматическим пересчётом формул при изменении данных. Это значительно облегчило финансовые и статистические расчёты и стимулировало рост продаж компьютеров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Apple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II.</a:t>
            </a: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565E-C1FE-4C6B-B7B4-9E85E7607BCA}" type="slidenum">
              <a:rPr lang="ru-RU" smtClean="0"/>
              <a:t>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Расширение функциональности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1980‑х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4954634"/>
          </a:xfrm>
        </p:spPr>
        <p:txBody>
          <a:bodyPr>
            <a:normAutofit fontScale="92500"/>
          </a:bodyPr>
          <a:lstStyle/>
          <a:p>
            <a:pPr>
              <a:buNone/>
            </a:pPr>
            <a:endParaRPr lang="ru-RU" dirty="0" smtClean="0"/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1980-х годах электронные таблицы развивались, приобретая новые функции. В 1983 году появилась программа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Lotus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1-2-3, объединившая работу с таблицами, графиками и управлением данными в одном приложении. Она оптимизировалась для IBM PC, поддерживала многозадачность, сложные финансовые функции и макросы, что сделало её популярным инструментом для бизнеса и анализа данных.</a:t>
            </a:r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565E-C1FE-4C6B-B7B4-9E85E7607BCA}" type="slidenum">
              <a:rPr lang="ru-RU" smtClean="0"/>
              <a:t>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Эра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240386"/>
          </a:xfrm>
        </p:spPr>
        <p:txBody>
          <a:bodyPr>
            <a:normAutofit/>
          </a:bodyPr>
          <a:lstStyle/>
          <a:p>
            <a:endParaRPr lang="ru-RU" dirty="0" smtClean="0"/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1985 году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выпустила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платформы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Macintosh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Эта программа привнесла более удобный и интуитивно понятный интерфейс, что сделало работу с электронными таблицами доступнее и удобнее для широкой аудитории.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продолжил развитие идей автоматизации, визуализации и анализа данных, став основой для современных табличных процессоров.</a:t>
            </a: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565E-C1FE-4C6B-B7B4-9E85E7607BCA}" type="slidenum">
              <a:rPr lang="ru-RU" smtClean="0"/>
              <a:t>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MS 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Excel</a:t>
            </a:r>
            <a:endParaRPr lang="ru-RU" dirty="0"/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565E-C1FE-4C6B-B7B4-9E85E7607BCA}" type="slidenum">
              <a:rPr lang="ru-RU" smtClean="0"/>
              <a:t>6</a:t>
            </a:fld>
            <a:endParaRPr lang="ru-RU"/>
          </a:p>
        </p:txBody>
      </p:sp>
      <p:pic>
        <p:nvPicPr>
          <p:cNvPr id="5" name="Рисунок 4" descr="Picture background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428736"/>
            <a:ext cx="7643866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042"/>
            <a:ext cx="8229600" cy="1166484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Основные функции электронных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таблиц. Ячейки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ru-RU" dirty="0" smtClean="0"/>
          </a:p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- Ввод разных данных: текст, числа, даты.</a:t>
            </a:r>
          </a:p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- Использование формул для вычислений с автоматическим пересчётом.</a:t>
            </a:r>
          </a:p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- Форматирование: изменение шрифта, цвета, выравнивания и числового формата.</a:t>
            </a: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565E-C1FE-4C6B-B7B4-9E85E7607BCA}" type="slidenum">
              <a:rPr lang="ru-RU" smtClean="0"/>
              <a:t>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Диапазоны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ячеек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097510"/>
          </a:xfrm>
        </p:spPr>
        <p:txBody>
          <a:bodyPr>
            <a:normAutofit/>
          </a:bodyPr>
          <a:lstStyle/>
          <a:p>
            <a:pPr>
              <a:buNone/>
            </a:pPr>
            <a:endParaRPr lang="ru-RU" dirty="0" smtClean="0"/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Группировка данных по критериям.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Использование в формулах для вычислений (например, сумма значений в группе ячеек).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Анализ через сводные таблицы, фильтры, условное форматирование.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Автоматизация обработки больших объёмов информации.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565E-C1FE-4C6B-B7B4-9E85E7607BCA}" type="slidenum">
              <a:rPr lang="ru-RU" smtClean="0"/>
              <a:t>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Формулы и функции в электронных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таблицах. Формулы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571612"/>
            <a:ext cx="8229600" cy="4883196"/>
          </a:xfrm>
        </p:spPr>
        <p:txBody>
          <a:bodyPr>
            <a:normAutofit/>
          </a:bodyPr>
          <a:lstStyle/>
          <a:p>
            <a:pPr>
              <a:buNone/>
            </a:pPr>
            <a:endParaRPr lang="ru-RU" dirty="0" smtClean="0"/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Выражения для расчётов, начинаются со знака =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Используют арифметические операции (+, −, *, /) и ссылки на ячейки или диапазоны (например, =A1+B1 или =SUM(A1:A10))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Автоматически обновляют результат при изменении данных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565E-C1FE-4C6B-B7B4-9E85E7607BCA}" type="slidenum">
              <a:rPr lang="ru-RU" smtClean="0"/>
              <a:t>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ru-RU" dirty="0" smtClean="0"/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Предустановленные формулы для упрощения расчётов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Основные функции: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SUM(диапазон) — сумма значений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AVERAGE(диапазон) — среднее арифметическое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MIN(диапазон), MAX(диапазон) — минимальное и максимальное значения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COUNT(диапазон) — количество числовых значений</a:t>
            </a: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Позволяют быстро и без ошибок обрабатывать большие объёмы данных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565E-C1FE-4C6B-B7B4-9E85E7607BCA}" type="slidenum">
              <a:rPr lang="ru-RU" smtClean="0"/>
              <a:t>10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 smtClean="0">
                <a:latin typeface="Times New Roman" pitchFamily="18" charset="0"/>
                <a:cs typeface="Times New Roman" pitchFamily="18" charset="0"/>
              </a:rPr>
              <a:t>Даты выхода последних </a:t>
            </a:r>
            <a:r>
              <a:rPr lang="ru-RU" sz="4400" dirty="0" smtClean="0">
                <a:latin typeface="Times New Roman" pitchFamily="18" charset="0"/>
                <a:cs typeface="Times New Roman" pitchFamily="18" charset="0"/>
              </a:rPr>
              <a:t>версий</a:t>
            </a:r>
            <a:endParaRPr lang="ru-RU" dirty="0"/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565E-C1FE-4C6B-B7B4-9E85E7607BCA}" type="slidenum">
              <a:rPr lang="ru-RU" smtClean="0"/>
              <a:t>11</a:t>
            </a:fld>
            <a:endParaRPr lang="ru-RU"/>
          </a:p>
        </p:txBody>
      </p:sp>
      <p:graphicFrame>
        <p:nvGraphicFramePr>
          <p:cNvPr id="5" name="Диаграмма 4"/>
          <p:cNvGraphicFramePr/>
          <p:nvPr/>
        </p:nvGraphicFramePr>
        <p:xfrm>
          <a:off x="1643042" y="1571612"/>
          <a:ext cx="6072230" cy="4429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effectLst/>
                <a:latin typeface="Times New Roman" pitchFamily="18" charset="0"/>
                <a:cs typeface="Times New Roman" pitchFamily="18" charset="0"/>
              </a:rPr>
              <a:t>Графики и </a:t>
            </a:r>
            <a:r>
              <a:rPr lang="ru-RU" dirty="0" smtClean="0">
                <a:effectLst/>
                <a:latin typeface="Times New Roman" pitchFamily="18" charset="0"/>
                <a:cs typeface="Times New Roman" pitchFamily="18" charset="0"/>
              </a:rPr>
              <a:t>диаграммы. Визуализация данных</a:t>
            </a:r>
            <a:endParaRPr lang="ru-RU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097510"/>
          </a:xfrm>
        </p:spPr>
        <p:txBody>
          <a:bodyPr>
            <a:normAutofit/>
          </a:bodyPr>
          <a:lstStyle/>
          <a:p>
            <a:endParaRPr lang="ru-RU" dirty="0" smtClean="0"/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Электронные таблицы позволяют создавать разные виды графиков и диаграмм для наглядного представления данных. Например, столбчатая диаграмма показывает динамику продаж по месяцам, помогая выявить сезонные изменения, а круговая диаграмма демонстрирует доли рынка разных товаров или регионов. Это облегчает анализ и принятие решений.</a:t>
            </a: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565E-C1FE-4C6B-B7B4-9E85E7607BCA}" type="slidenum">
              <a:rPr lang="ru-RU" smtClean="0"/>
              <a:t>12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Сортировка 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фильтрация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571612"/>
            <a:ext cx="8229600" cy="4883196"/>
          </a:xfrm>
        </p:spPr>
        <p:txBody>
          <a:bodyPr>
            <a:normAutofit/>
          </a:bodyPr>
          <a:lstStyle/>
          <a:p>
            <a:endParaRPr lang="ru-RU" dirty="0" smtClean="0"/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удобства работы с большими объёмами данных используют сортировку (по возрастанию или убыванию) и фильтрацию (выделение данных по заданным условиям). Это ускоряет поиск нужной информации и упрощает анализ, позволяя сосредоточиться на важных параметрах.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565E-C1FE-4C6B-B7B4-9E85E7607BCA}" type="slidenum">
              <a:rPr lang="ru-RU" smtClean="0"/>
              <a:t>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 smtClean="0">
                <a:latin typeface="Times New Roman" pitchFamily="18" charset="0"/>
                <a:cs typeface="Times New Roman" pitchFamily="18" charset="0"/>
              </a:rPr>
              <a:t>Связывание данных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571612"/>
            <a:ext cx="8229600" cy="4883196"/>
          </a:xfrm>
        </p:spPr>
        <p:txBody>
          <a:bodyPr>
            <a:normAutofit/>
          </a:bodyPr>
          <a:lstStyle/>
          <a:p>
            <a:pPr>
              <a:buNone/>
            </a:pPr>
            <a:endParaRPr lang="ru-RU" dirty="0" smtClean="0"/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Таблицы поддерживают интеграцию с внешними источниками (базы данных,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веб-страницы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др.), что обеспечивает автоматическое обновление данных при изменении в исходных источниках. Это повышает точность отчётов и экономит время, исключая ручной ввод и ошибки.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565E-C1FE-4C6B-B7B4-9E85E7607BCA}" type="slidenum">
              <a:rPr lang="ru-RU" smtClean="0"/>
              <a:t>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Заключение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43050"/>
            <a:ext cx="8229600" cy="4811758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Электронные таблицы — универсальный инструмент для хранения, анализа, обработки и визуализации данных. Они упрощают и ускоряют процессы в бизнесе, науке и образовании, повышая продуктивность.</a:t>
            </a: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Знание основных функций, формул, фильтрации и построения диаграмм позволяет автоматизировать задачи и получать точные результаты без лишних усилий.</a:t>
            </a: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Простота освоения и мощный функционал делают таблицы доступными как новичкам, так и профессионалам. Интеграция с облачными сервисами и инструментами совместной работы обеспечивает их актуальность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востребованность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будущем.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565E-C1FE-4C6B-B7B4-9E85E7607BCA}" type="slidenum">
              <a:rPr lang="ru-RU" smtClean="0"/>
              <a:t>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КБ-251 Леухина Софья Анатольевна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565E-C1FE-4C6B-B7B4-9E85E7607BCA}" type="slidenum">
              <a:rPr lang="ru-RU" smtClean="0"/>
              <a:t>16</a:t>
            </a:fld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714348" y="714356"/>
            <a:ext cx="7786742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Леухина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Софья Анатольевна студентка первого курса «Кемеровского государственного университета», института цифры,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кафедры цифровых технологий, направление подготовки 10.05.01 Компьютерная безопасность специализация «Безопасность компьютерных систем и сетей (в сфере защиты информации в компьютерных системах и сетях)»</a:t>
            </a:r>
          </a:p>
          <a:p>
            <a:endParaRPr lang="ru-RU" dirty="0"/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Яркая">
  <a:themeElements>
    <a:clrScheme name="Яркая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Ярк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Яркая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75</TotalTime>
  <Words>788</Words>
  <Application>Microsoft Office PowerPoint</Application>
  <PresentationFormat>Экран (4:3)</PresentationFormat>
  <Paragraphs>89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Яркая</vt:lpstr>
      <vt:lpstr>Электронные таблицы</vt:lpstr>
      <vt:lpstr>Введение</vt:lpstr>
      <vt:lpstr>История появления электронных таблиц. Ранние годы 1970-х </vt:lpstr>
      <vt:lpstr>Расширение функциональности 1980‑х</vt:lpstr>
      <vt:lpstr>Эра Microsoft Excel</vt:lpstr>
      <vt:lpstr>MS Excel</vt:lpstr>
      <vt:lpstr>Основные функции электронных таблиц. Ячейки</vt:lpstr>
      <vt:lpstr>Диапазоны ячеек</vt:lpstr>
      <vt:lpstr>Формулы и функции в электронных таблицах. Формулы</vt:lpstr>
      <vt:lpstr>Функции</vt:lpstr>
      <vt:lpstr>Даты выхода последних версий</vt:lpstr>
      <vt:lpstr>Графики и диаграммы. Визуализация данных</vt:lpstr>
      <vt:lpstr>Сортировка и фильтрация</vt:lpstr>
      <vt:lpstr>Связывание данных</vt:lpstr>
      <vt:lpstr>Заключение</vt:lpstr>
      <vt:lpstr>Слайд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Электронные таблицы</dc:title>
  <dc:creator>User</dc:creator>
  <cp:lastModifiedBy>User</cp:lastModifiedBy>
  <cp:revision>10</cp:revision>
  <dcterms:created xsi:type="dcterms:W3CDTF">2026-01-01T09:48:14Z</dcterms:created>
  <dcterms:modified xsi:type="dcterms:W3CDTF">2026-01-01T11:04:10Z</dcterms:modified>
</cp:coreProperties>
</file>